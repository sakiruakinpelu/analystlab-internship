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80F"/>
          </a:solidFill>
          <a:ln w="12700">
            <a:solidFill>
              <a:srgbClr val="0408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2331720"/>
            <a:ext cx="5943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572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EA5E9"/>
                </a:solidFill>
              </a:rPr>
              <a:t>WEEK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AnalystLab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Africa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10972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Data Visualization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&amp; Dashboarding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676.6M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3182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Cases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6.88M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37307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Deaths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32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" y="4279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Countries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74720" y="54864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COVID-19 </a:t>
            </a:r>
            <a:pPr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Global</a:t>
            </a:r>
            <a:pPr indent="0" marL="0">
              <a:buNone/>
            </a:pP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3474720" y="24231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 comprehensive analysis of global COVID-19 trends,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impact by country and continent, and key pandemic milestones.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0" y="3200400"/>
            <a:ext cx="1645920" cy="274320"/>
          </a:xfrm>
          <a:prstGeom prst="rect">
            <a:avLst/>
          </a:prstGeom>
          <a:solidFill>
            <a:srgbClr val="0D1B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Johns Hopkins CSSE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303520" y="3200400"/>
            <a:ext cx="1645920" cy="274320"/>
          </a:xfrm>
          <a:prstGeom prst="rect">
            <a:avLst/>
          </a:prstGeom>
          <a:solidFill>
            <a:srgbClr val="0D1B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Jan 2020 — Mar 2023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132320" y="3200400"/>
            <a:ext cx="1645920" cy="274320"/>
          </a:xfrm>
          <a:prstGeom prst="rect">
            <a:avLst/>
          </a:prstGeom>
          <a:solidFill>
            <a:srgbClr val="0D1B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Power BI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74720" y="44805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Prepared by: Sakiru Akinpelu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164592"/>
            <a:ext cx="2011680" cy="256032"/>
          </a:xfrm>
          <a:prstGeom prst="rect">
            <a:avLst/>
          </a:prstGeom>
          <a:solidFill>
            <a:srgbClr val="0D1B2A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EA5E9"/>
                </a:solidFill>
              </a:rPr>
              <a:t>SLIDE 02 / 07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</a:t>
            </a:r>
            <a:pPr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Johns Hopkins University CSSE — COVID-19 Time Series Data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697480" cy="1371600"/>
          </a:xfrm>
          <a:prstGeom prst="rect">
            <a:avLst/>
          </a:prstGeom>
          <a:solidFill>
            <a:srgbClr val="0D1B2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2336" y="1097280"/>
            <a:ext cx="262432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Confirmed Cases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EA5E9"/>
                </a:solidFill>
              </a:rPr>
              <a:t>time_series_covid19_confirmed_global.csv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02920" y="157276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Daily cumulative confirmed COVID-19 cases by country from Jan 22, 2020 to Mar 9, 2023.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697480" cy="1371600"/>
          </a:xfrm>
          <a:prstGeom prst="rect">
            <a:avLst/>
          </a:prstGeom>
          <a:solidFill>
            <a:srgbClr val="0D1B2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82696" y="1097280"/>
            <a:ext cx="2624328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1704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Deaths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138988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EA5E9"/>
                </a:solidFill>
              </a:rPr>
              <a:t>time_series_covid19_deaths_global.csv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383280" y="157276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Daily cumulative COVID-19 deaths by country across the full pandemic timeline.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697480" cy="1371600"/>
          </a:xfrm>
          <a:prstGeom prst="rect">
            <a:avLst/>
          </a:prstGeom>
          <a:solidFill>
            <a:srgbClr val="0D1B2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1097280"/>
            <a:ext cx="2624328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1704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Recovered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38988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EA5E9"/>
                </a:solidFill>
              </a:rPr>
              <a:t>time_series_covid19_recovered_global.csv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263640" y="157276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Daily cumulative recovered cases. Note: Data collection was discontinued in Aug 2021.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2633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Structure After Cleaning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8412480" cy="192024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47548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Country/Region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Text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Name of the country or territory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Date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Date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Daily date from Jan 22 2020 to Mar 9 2023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Confirmed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Whole Number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Cumulative confirmed cases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Deaths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Whole Number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Cumulative deaths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Recovered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Whole Number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Cumulative recoveries (until Aug 2021)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164592"/>
            <a:ext cx="2011680" cy="256032"/>
          </a:xfrm>
          <a:prstGeom prst="rect">
            <a:avLst/>
          </a:prstGeom>
          <a:solidFill>
            <a:srgbClr val="0D1B2A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EA5E9"/>
                </a:solidFill>
              </a:rPr>
              <a:t>SLIDE 03 / 07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KPIs </a:t>
            </a:r>
            <a:pPr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Defined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Key Performance Indicators tracked across the dashboard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1627632" cy="960120"/>
          </a:xfrm>
          <a:prstGeom prst="rect">
            <a:avLst/>
          </a:prstGeom>
          <a:solidFill>
            <a:srgbClr val="0D1B2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078992"/>
            <a:ext cx="15544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043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</a:rPr>
              <a:t>TOTAL CONFIRMED CASES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47472" y="1335024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676.6M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173736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Across 201 countries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93392" y="1078992"/>
            <a:ext cx="1627632" cy="960120"/>
          </a:xfrm>
          <a:prstGeom prst="rect">
            <a:avLst/>
          </a:prstGeom>
          <a:solidFill>
            <a:srgbClr val="0D1B2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29968" y="1078992"/>
            <a:ext cx="155448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17043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</a:rPr>
              <a:t>TOTAL DEATHS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084832" y="1335024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6.88M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03120" y="173736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Case Fatality Rate: 1.02%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30752" y="1078992"/>
            <a:ext cx="1627632" cy="960120"/>
          </a:xfrm>
          <a:prstGeom prst="rect">
            <a:avLst/>
          </a:prstGeom>
          <a:solidFill>
            <a:srgbClr val="0D1B2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67328" y="1078992"/>
            <a:ext cx="15544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117043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</a:rPr>
              <a:t>HARDEST HIT COUNTRY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822192" y="1335024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United States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840480" y="173736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103.8M confirmed · 1.12M deaths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68112" y="1078992"/>
            <a:ext cx="1627632" cy="960120"/>
          </a:xfrm>
          <a:prstGeom prst="rect">
            <a:avLst/>
          </a:prstGeom>
          <a:solidFill>
            <a:srgbClr val="0D1B2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04688" y="1078992"/>
            <a:ext cx="15544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117043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</a:rPr>
              <a:t>PEAK MONTHLY CASES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559552" y="1335024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90.5M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77840" y="173736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January 2022 — Omicron wave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205472" y="1078992"/>
            <a:ext cx="1627632" cy="960120"/>
          </a:xfrm>
          <a:prstGeom prst="rect">
            <a:avLst/>
          </a:prstGeom>
          <a:solidFill>
            <a:srgbClr val="0D1B2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42048" y="1078992"/>
            <a:ext cx="155448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117043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</a:rPr>
              <a:t>PANDEMIC DURATION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296912" y="1335024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 Months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315200" y="173736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Jan 2020 → Mar 2023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5760" y="2212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How Each KPI Was Calculated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6032" y="2560320"/>
            <a:ext cx="4059936" cy="1078992"/>
          </a:xfrm>
          <a:prstGeom prst="rect">
            <a:avLst/>
          </a:prstGeom>
          <a:solidFill>
            <a:srgbClr val="0D1B2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2633472"/>
            <a:ext cx="36576" cy="9326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265176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Total Confirmed &amp; Deaths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84048" y="2852928"/>
            <a:ext cx="38587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MAX value on the latest date in the dataset, representing the final cumulative count across all countries.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2560320"/>
            <a:ext cx="4059936" cy="1078992"/>
          </a:xfrm>
          <a:prstGeom prst="rect">
            <a:avLst/>
          </a:prstGeom>
          <a:solidFill>
            <a:srgbClr val="0D1B2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2633472"/>
            <a:ext cx="36576" cy="9326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0016" y="265176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Hardest Hit Country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00016" y="2852928"/>
            <a:ext cx="38587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Country with the highest MAX confirmed cases on the final date — United States at 103.8M total cases.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6032" y="3730752"/>
            <a:ext cx="4059936" cy="1078992"/>
          </a:xfrm>
          <a:prstGeom prst="rect">
            <a:avLst/>
          </a:prstGeom>
          <a:solidFill>
            <a:srgbClr val="0D1B2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56032" y="3803904"/>
            <a:ext cx="36576" cy="9326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3822192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Peak Monthly Cases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84048" y="4023360"/>
            <a:ext cx="38587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Highest number of new cases recorded in a single month — 90.5M in January 2022 during the Omicron variant surge.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0" y="3730752"/>
            <a:ext cx="4059936" cy="1078992"/>
          </a:xfrm>
          <a:prstGeom prst="rect">
            <a:avLst/>
          </a:prstGeom>
          <a:solidFill>
            <a:srgbClr val="0D1B2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72000" y="3803904"/>
            <a:ext cx="36576" cy="9326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0016" y="3822192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Pandemic Duration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00016" y="4023360"/>
            <a:ext cx="38587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DATEDIFF between first recorded date (Jan 22, 2020) and last recorded date (Mar 9, 2023) measured in months.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164592"/>
            <a:ext cx="2011680" cy="256032"/>
          </a:xfrm>
          <a:prstGeom prst="rect">
            <a:avLst/>
          </a:prstGeom>
          <a:solidFill>
            <a:srgbClr val="0D1B2A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EA5E9"/>
                </a:solidFill>
              </a:rPr>
              <a:t>SLIDE 04 / 07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</a:t>
            </a:r>
            <a:pPr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solidFill>
            <a:srgbClr val="060D1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COVID-19  Global 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53312"/>
            <a:ext cx="1554480" cy="713232"/>
          </a:xfrm>
          <a:prstGeom prst="rect">
            <a:avLst/>
          </a:prstGeom>
          <a:solidFill>
            <a:srgbClr val="060D1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353312"/>
            <a:ext cx="1517904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389888"/>
            <a:ext cx="1444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</a:rPr>
              <a:t>TOTAL CONFIRMED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512064" y="151790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676.6M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21408" y="1353312"/>
            <a:ext cx="1554480" cy="713232"/>
          </a:xfrm>
          <a:prstGeom prst="rect">
            <a:avLst/>
          </a:prstGeom>
          <a:solidFill>
            <a:srgbClr val="060D1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39696" y="1353312"/>
            <a:ext cx="1517904" cy="27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6272" y="1389888"/>
            <a:ext cx="1444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</a:rPr>
              <a:t>TOTAL DEATHS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2176272" y="151790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6.88M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85616" y="1353312"/>
            <a:ext cx="1554480" cy="713232"/>
          </a:xfrm>
          <a:prstGeom prst="rect">
            <a:avLst/>
          </a:prstGeom>
          <a:solidFill>
            <a:srgbClr val="060D1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03904" y="1353312"/>
            <a:ext cx="1517904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1389888"/>
            <a:ext cx="1444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</a:rPr>
              <a:t>HARDEST HIT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3840480" y="151790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49824" y="1353312"/>
            <a:ext cx="1554480" cy="713232"/>
          </a:xfrm>
          <a:prstGeom prst="rect">
            <a:avLst/>
          </a:prstGeom>
          <a:solidFill>
            <a:srgbClr val="060D1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68112" y="1353312"/>
            <a:ext cx="1517904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04688" y="1389888"/>
            <a:ext cx="1444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</a:rPr>
              <a:t>PEAK MONTHLY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5504688" y="151790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90.5M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14032" y="1353312"/>
            <a:ext cx="1554480" cy="713232"/>
          </a:xfrm>
          <a:prstGeom prst="rect">
            <a:avLst/>
          </a:prstGeom>
          <a:solidFill>
            <a:srgbClr val="060D1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0" y="1353312"/>
            <a:ext cx="1517904" cy="274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68896" y="1389888"/>
            <a:ext cx="1444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</a:rPr>
              <a:t>DURATION</a:t>
            </a:r>
            <a:endParaRPr lang="en-US" sz="550" dirty="0"/>
          </a:p>
        </p:txBody>
      </p:sp>
      <p:sp>
        <p:nvSpPr>
          <p:cNvPr id="27" name="Text 25"/>
          <p:cNvSpPr/>
          <p:nvPr/>
        </p:nvSpPr>
        <p:spPr>
          <a:xfrm>
            <a:off x="7168896" y="151790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38 Months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2148840"/>
            <a:ext cx="4114800" cy="1188720"/>
          </a:xfrm>
          <a:prstGeom prst="rect">
            <a:avLst/>
          </a:prstGeom>
          <a:solidFill>
            <a:srgbClr val="060D1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21945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Global Case Trajectory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663440" y="2148840"/>
            <a:ext cx="4023360" cy="1188720"/>
          </a:xfrm>
          <a:prstGeom prst="rect">
            <a:avLst/>
          </a:prstGeom>
          <a:solidFill>
            <a:srgbClr val="060D1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21945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Case Fatality Rate by Continent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57200" y="3429000"/>
            <a:ext cx="4114800" cy="1261872"/>
          </a:xfrm>
          <a:prstGeom prst="rect">
            <a:avLst/>
          </a:prstGeom>
          <a:solidFill>
            <a:srgbClr val="060D1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3474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Monthly New Cases (2021–2023)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663440" y="3429000"/>
            <a:ext cx="4023360" cy="1261872"/>
          </a:xfrm>
          <a:prstGeom prst="rect">
            <a:avLst/>
          </a:prstGeom>
          <a:solidFill>
            <a:srgbClr val="060D1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3474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Case Distribution by Continent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* Replace this slide with an actual screenshot of your Power BI dashboard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164592"/>
            <a:ext cx="2011680" cy="256032"/>
          </a:xfrm>
          <a:prstGeom prst="rect">
            <a:avLst/>
          </a:prstGeom>
          <a:solidFill>
            <a:srgbClr val="0D1B2A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EA5E9"/>
                </a:solidFill>
              </a:rPr>
              <a:t>SLIDE 05 / 07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</a:t>
            </a:r>
            <a:pPr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Insights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Critical findings discovered through data analysis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2743200" cy="1664208"/>
          </a:xfrm>
          <a:prstGeom prst="rect">
            <a:avLst/>
          </a:prstGeom>
          <a:solidFill>
            <a:srgbClr val="0D1B2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52144"/>
            <a:ext cx="36576" cy="15179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7043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📈  Omicron Redefined Scale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371600"/>
            <a:ext cx="2542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January 2022 recorded 90.5M new cases — more than 3× the previous monthly peak. The Omicron variant spread faster than any prior wave.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63824" y="1078992"/>
            <a:ext cx="2743200" cy="1664208"/>
          </a:xfrm>
          <a:prstGeom prst="rect">
            <a:avLst/>
          </a:prstGeom>
          <a:solidFill>
            <a:srgbClr val="0D1B2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63824" y="1152144"/>
            <a:ext cx="36576" cy="15179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7043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🇺🇸  US Dominance in Case Volume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371600"/>
            <a:ext cx="2542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The United States accounted for 15.3% of all global confirmed cases despite being ~4.2% of the world's population.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71616" y="1078992"/>
            <a:ext cx="2743200" cy="1664208"/>
          </a:xfrm>
          <a:prstGeom prst="rect">
            <a:avLst/>
          </a:prstGeom>
          <a:solidFill>
            <a:srgbClr val="0D1B2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1616" y="1152144"/>
            <a:ext cx="36576" cy="15179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117043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⚠️  Brazil &amp; Russia: Fatality Outliers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99632" y="1371600"/>
            <a:ext cx="2542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Among the top 10 affected nations, Brazil (1.89%) and Russia (1.76%) had death rates nearly double the global average of 1.02%.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889504"/>
            <a:ext cx="2743200" cy="1664208"/>
          </a:xfrm>
          <a:prstGeom prst="rect">
            <a:avLst/>
          </a:prstGeom>
          <a:solidFill>
            <a:srgbClr val="0D1B2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962656"/>
            <a:ext cx="36576" cy="15179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98094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🌏  Asia's Remarkable Efficiency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3182112"/>
            <a:ext cx="2542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South Korea (0.11%) and Japan (0.22%) had the lowest fatality rates among top-10 countries despite massive case loads.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63824" y="2889504"/>
            <a:ext cx="2743200" cy="1664208"/>
          </a:xfrm>
          <a:prstGeom prst="rect">
            <a:avLst/>
          </a:prstGeom>
          <a:solidFill>
            <a:srgbClr val="0D1B2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63824" y="2962656"/>
            <a:ext cx="36576" cy="151790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98094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🌍  Africa: Data Gap Concern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3182112"/>
            <a:ext cx="2542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Africa reported only 8.4M confirmed cases but its 2.34% death rate was the highest of any continent — strongly suggesting undercounting.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71616" y="2889504"/>
            <a:ext cx="2743200" cy="1664208"/>
          </a:xfrm>
          <a:prstGeom prst="rect">
            <a:avLst/>
          </a:prstGeom>
          <a:solidFill>
            <a:srgbClr val="0D1B2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71616" y="2962656"/>
            <a:ext cx="36576" cy="15179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9632" y="298094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📉  Pandemic Winding Down by 2023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99632" y="3182112"/>
            <a:ext cx="2542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By March 2023, monthly new cases dropped to under 1.2M — a 98.7% decline from the January 2022 peak.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164592"/>
            <a:ext cx="2011680" cy="256032"/>
          </a:xfrm>
          <a:prstGeom prst="rect">
            <a:avLst/>
          </a:prstGeom>
          <a:solidFill>
            <a:srgbClr val="0D1B2A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EA5E9"/>
                </a:solidFill>
              </a:rPr>
              <a:t>SLIDE 06 / 07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Recommendations</a:t>
            </a:r>
            <a:pPr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&amp; Learnings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Actionable recommendations for decision-makers based on the data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804672"/>
          </a:xfrm>
          <a:prstGeom prst="rect">
            <a:avLst/>
          </a:prstGeom>
          <a:solidFill>
            <a:srgbClr val="0D1B2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36576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117043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Strengthen Pandemic Early Warning Systems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4173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The rapid Omicron surge in Jan 2022 (90.5M cases) shows global health bodies need faster variant detection and response protocols to contain exponential spread.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029968"/>
            <a:ext cx="8412480" cy="804672"/>
          </a:xfrm>
          <a:prstGeom prst="rect">
            <a:avLst/>
          </a:prstGeom>
          <a:solidFill>
            <a:srgbClr val="0D1B2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029968"/>
            <a:ext cx="36576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210312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Address Healthcare Inequality in Africa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35000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Africa's 2.34% case fatality rate — highest globally — combined with low confirmed case counts signals urgent need for improved testing infrastructure and healthcare investment.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962656"/>
            <a:ext cx="8412480" cy="804672"/>
          </a:xfrm>
          <a:prstGeom prst="rect">
            <a:avLst/>
          </a:prstGeom>
          <a:solidFill>
            <a:srgbClr val="0D1B2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62656"/>
            <a:ext cx="36576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303580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Learn from Asia's Low Fatality Models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3282696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South Korea and Japan's 0.11–0.22% fatality rates demonstrate that early testing, contact tracing, and public health culture significantly reduce mortality.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895344"/>
            <a:ext cx="8412480" cy="804672"/>
          </a:xfrm>
          <a:prstGeom prst="rect">
            <a:avLst/>
          </a:prstGeom>
          <a:solidFill>
            <a:srgbClr val="0D1B2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895344"/>
            <a:ext cx="36576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51560" y="396849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Prepare for Variant-Driven Surge Waves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4215384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Data shows clear wave patterns tied to new variants. Governments should maintain surge capacity in hospitals and vaccine rollout plans ready to scale quickly.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2331720"/>
            <a:ext cx="5943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EA5E9"/>
                </a:solidFill>
              </a:rPr>
              <a:t>CONCLUSION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Takeaways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2651760" cy="640080"/>
          </a:xfrm>
          <a:prstGeom prst="rect">
            <a:avLst/>
          </a:prstGeom>
          <a:solidFill>
            <a:srgbClr val="060D1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568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676.6M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Cases Analyzed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2670048"/>
            <a:ext cx="2651760" cy="640080"/>
          </a:xfrm>
          <a:prstGeom prst="rect">
            <a:avLst/>
          </a:prstGeom>
          <a:solidFill>
            <a:srgbClr val="060D1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066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30540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Countries Covered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3419856"/>
            <a:ext cx="2651760" cy="640080"/>
          </a:xfrm>
          <a:prstGeom prst="rect">
            <a:avLst/>
          </a:prstGeom>
          <a:solidFill>
            <a:srgbClr val="060D1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564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38039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Months of Data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4169664"/>
            <a:ext cx="2651760" cy="640080"/>
          </a:xfrm>
          <a:prstGeom prst="rect">
            <a:avLst/>
          </a:prstGeom>
          <a:solidFill>
            <a:srgbClr val="060D1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206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45537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Charts Built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74720" y="2743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</a:t>
            </a:r>
            <a:pPr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✓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474720" y="10058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This dashboard successfully demonstrates the power of data visualization in uncovering critical global health patterns from the COVID-19 pandemic.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1737360"/>
            <a:ext cx="36576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177393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Power BI enabled interactive exploration of 37+ months of pandemic data across 201 countries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0" y="2423160"/>
            <a:ext cx="36576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245973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DAX measures accurately computed global KPIs including fatality rates and peak case volumes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0" y="3108960"/>
            <a:ext cx="36576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314553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Data storytelling revealed the Omicron surge as the most significant pandemic event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0" y="3794760"/>
            <a:ext cx="36576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383133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Continent-level analysis exposed critical healthcare disparities, especially in Africa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74720" y="48006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Sakiru Akinpelu  ·  AnalystLab Africa Internship  ·  Week 4  ·  Data Visualization &amp; Dashboarding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Global Dashboard</dc:title>
  <dc:subject>PptxGenJS Presentation</dc:subject>
  <dc:creator>Sakiru Akinpelu</dc:creator>
  <cp:lastModifiedBy>Sakiru Akinpelu</cp:lastModifiedBy>
  <cp:revision>1</cp:revision>
  <dcterms:created xsi:type="dcterms:W3CDTF">2026-06-03T10:03:42Z</dcterms:created>
  <dcterms:modified xsi:type="dcterms:W3CDTF">2026-06-03T10:03:42Z</dcterms:modified>
</cp:coreProperties>
</file>